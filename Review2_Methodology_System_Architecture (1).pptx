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Y25 Trimester 4  |  Sec No-11  |  Team No-1  |  Smart Inventory &amp; Warehouse Management System  |  Review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5895" y="6181344"/>
            <a:ext cx="54864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/>
            <a:r>
              <a:rPr sz="1200" b="1">
                <a:solidFill>
                  <a:srgbClr val="C00000"/>
                </a:solidFill>
                <a:latin typeface="Times New Roman"/>
              </a:rPr>
              <a:t>1</a:t>
            </a:r>
          </a:p>
        </p:txBody>
      </p:sp>
      <p:pic>
        <p:nvPicPr>
          <p:cNvPr id="5" name="Picture 4" descr="klh_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92608"/>
            <a:ext cx="420624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123444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000000"/>
                </a:solidFill>
                <a:latin typeface="Times New Roman"/>
              </a:rPr>
              <a:t>REVIEW 2</a:t>
            </a:r>
          </a:p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000000"/>
                </a:solidFill>
                <a:latin typeface="Times New Roman"/>
              </a:rPr>
              <a:t>Methodology · System Architecture</a:t>
            </a:r>
          </a:p>
          <a:p>
            <a:pPr algn="ctr">
              <a:spcAft>
                <a:spcPts val="1000"/>
              </a:spcAft>
            </a:pPr>
            <a:r>
              <a:rPr sz="3000" b="1">
                <a:solidFill>
                  <a:srgbClr val="548235"/>
                </a:solidFill>
                <a:latin typeface="Times New Roman"/>
              </a:rPr>
              <a:t>Smart Inventory &amp; Warehouse Management System</a:t>
            </a:r>
          </a:p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FF0000"/>
                </a:solidFill>
                <a:latin typeface="Times New Roman"/>
              </a:rPr>
              <a:t>Team Members</a:t>
            </a:r>
          </a:p>
          <a:p>
            <a:pPr algn="ctr">
              <a:spcAft>
                <a:spcPts val="1000"/>
              </a:spcAft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S Svara Haasini – 2520090170</a:t>
            </a:r>
          </a:p>
          <a:p>
            <a:pPr algn="ctr">
              <a:spcAft>
                <a:spcPts val="1000"/>
              </a:spcAft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B Sudharshini – 2520090227</a:t>
            </a:r>
          </a:p>
          <a:p>
            <a:pPr algn="ctr">
              <a:spcAft>
                <a:spcPts val="1000"/>
              </a:spcAft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Samyuktha Kandukuri – 2520090157</a:t>
            </a:r>
          </a:p>
          <a:p>
            <a:pPr algn="ctr">
              <a:spcAft>
                <a:spcPts val="1000"/>
              </a:spcAft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Database Systems Engineering &amp; Distributed Backend Development (25CS1302E)</a:t>
            </a:r>
          </a:p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FF0000"/>
                </a:solidFill>
                <a:latin typeface="Times New Roman"/>
              </a:rPr>
              <a:t>Under the Guidance of: Course Faculty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Y25 Trimester 4  |  Sec No-11  |  Team No-1  |  Smart Inventory &amp; Warehouse Management System  |  Review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5895" y="6181344"/>
            <a:ext cx="54864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/>
            <a:r>
              <a:rPr sz="1200" b="1">
                <a:solidFill>
                  <a:srgbClr val="C00000"/>
                </a:solidFill>
                <a:latin typeface="Times New Roman"/>
              </a:rPr>
              <a:t>2</a:t>
            </a:r>
          </a:p>
        </p:txBody>
      </p:sp>
      <p:pic>
        <p:nvPicPr>
          <p:cNvPr id="5" name="Picture 4" descr="kl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8927" y="45720"/>
            <a:ext cx="1463040" cy="5422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292608"/>
            <a:ext cx="9418320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3600" b="1">
                <a:solidFill>
                  <a:srgbClr val="00B0F0"/>
                </a:solidFill>
                <a:latin typeface="Times New Roman"/>
              </a:rP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143000"/>
            <a:ext cx="10607040" cy="4892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Recap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Proposed Methodology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System Architecture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Database Design (ER Model)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Technologies Used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Y25 Trimester 4  |  Sec No-11  |  Team No-1  |  Smart Inventory &amp; Warehouse Management System  |  Review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5895" y="6181344"/>
            <a:ext cx="54864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/>
            <a:r>
              <a:rPr sz="1200" b="1">
                <a:solidFill>
                  <a:srgbClr val="C00000"/>
                </a:solidFill>
                <a:latin typeface="Times New Roman"/>
              </a:rPr>
              <a:t>3</a:t>
            </a:r>
          </a:p>
        </p:txBody>
      </p:sp>
      <p:pic>
        <p:nvPicPr>
          <p:cNvPr id="5" name="Picture 4" descr="kl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8927" y="45720"/>
            <a:ext cx="1463040" cy="5422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292608"/>
            <a:ext cx="9418320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3600" b="1">
                <a:solidFill>
                  <a:srgbClr val="00B0F0"/>
                </a:solidFill>
                <a:latin typeface="Times New Roman"/>
              </a:rPr>
              <a:t>Recap — Review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143000"/>
            <a:ext cx="10607040" cy="4892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Literature survey: spreadsheets, barcode, POS, and ERP tools reviewed.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Research gap: no low-cost, relational, multi-warehouse solution with automated alerts.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2200" b="0">
                <a:solidFill>
                  <a:srgbClr val="000000"/>
                </a:solidFill>
                <a:latin typeface="Times New Roman"/>
              </a:rPr>
              <a:t>Direction: a MySQL + Flask system with automated stock updates and reporting.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Y25 Trimester 4  |  Sec No-11  |  Team No-1  |  Smart Inventory &amp; Warehouse Management System  |  Review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5895" y="6181344"/>
            <a:ext cx="54864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/>
            <a:r>
              <a:rPr sz="1200" b="1">
                <a:solidFill>
                  <a:srgbClr val="C00000"/>
                </a:solidFill>
                <a:latin typeface="Times New Roman"/>
              </a:rPr>
              <a:t>4</a:t>
            </a:r>
          </a:p>
        </p:txBody>
      </p:sp>
      <p:pic>
        <p:nvPicPr>
          <p:cNvPr id="5" name="Picture 4" descr="kl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8927" y="45720"/>
            <a:ext cx="1463040" cy="5422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292608"/>
            <a:ext cx="9418320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3600" b="1">
                <a:solidFill>
                  <a:srgbClr val="00B0F0"/>
                </a:solidFill>
                <a:latin typeface="Times New Roman"/>
              </a:rPr>
              <a:t>Proposed Methodology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143000"/>
            <a:ext cx="10607040" cy="4892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900" b="1">
                <a:solidFill>
                  <a:srgbClr val="000000"/>
                </a:solidFill>
                <a:latin typeface="Times New Roman"/>
              </a:rPr>
              <a:t>Requirement Gathering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900" b="0">
                <a:solidFill>
                  <a:srgbClr val="000000"/>
                </a:solidFill>
                <a:latin typeface="Times New Roman"/>
              </a:rPr>
              <a:t>Identify entities: products, categories, suppliers, warehouses, stock, transactions.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900" b="1">
                <a:solidFill>
                  <a:srgbClr val="000000"/>
                </a:solidFill>
                <a:latin typeface="Times New Roman"/>
              </a:rPr>
              <a:t>Schema Design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900" b="0">
                <a:solidFill>
                  <a:srgbClr val="000000"/>
                </a:solidFill>
                <a:latin typeface="Times New Roman"/>
              </a:rPr>
              <a:t>Design normalized ER model with primary/foreign-key relationships.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900" b="1">
                <a:solidFill>
                  <a:srgbClr val="000000"/>
                </a:solidFill>
                <a:latin typeface="Times New Roman"/>
              </a:rPr>
              <a:t>Database Creation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900" b="0">
                <a:solidFill>
                  <a:srgbClr val="000000"/>
                </a:solidFill>
                <a:latin typeface="Times New Roman"/>
              </a:rPr>
              <a:t>Implement schema in MySQL using MySQL Workbench.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900" b="1">
                <a:solidFill>
                  <a:srgbClr val="000000"/>
                </a:solidFill>
                <a:latin typeface="Times New Roman"/>
              </a:rPr>
              <a:t>Backend Integration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900" b="0">
                <a:solidFill>
                  <a:srgbClr val="000000"/>
                </a:solidFill>
                <a:latin typeface="Times New Roman"/>
              </a:rPr>
              <a:t>Build Flask routes and Python connectors for CRUD operations.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900" b="1">
                <a:solidFill>
                  <a:srgbClr val="000000"/>
                </a:solidFill>
                <a:latin typeface="Times New Roman"/>
              </a:rPr>
              <a:t>Frontend &amp; Testing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900" b="0">
                <a:solidFill>
                  <a:srgbClr val="000000"/>
                </a:solidFill>
                <a:latin typeface="Times New Roman"/>
              </a:rPr>
              <a:t>Connect Bootstrap UI; test stock-update and low-stock alert logic.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Y25 Trimester 4  |  Sec No-11  |  Team No-1  |  Smart Inventory &amp; Warehouse Management System  |  Review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5895" y="6181344"/>
            <a:ext cx="54864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/>
            <a:r>
              <a:rPr sz="1200" b="1">
                <a:solidFill>
                  <a:srgbClr val="C00000"/>
                </a:solidFill>
                <a:latin typeface="Times New Roman"/>
              </a:rPr>
              <a:t>5</a:t>
            </a:r>
          </a:p>
        </p:txBody>
      </p:sp>
      <p:pic>
        <p:nvPicPr>
          <p:cNvPr id="5" name="Picture 4" descr="kl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8927" y="45720"/>
            <a:ext cx="1463040" cy="5422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292608"/>
            <a:ext cx="9418320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3600" b="1">
                <a:solidFill>
                  <a:srgbClr val="00B0F0"/>
                </a:solidFill>
                <a:latin typeface="Times New Roman"/>
              </a:rPr>
              <a:t>System Architecture — Layered 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143000"/>
            <a:ext cx="10607040" cy="4892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900" b="1">
                <a:solidFill>
                  <a:srgbClr val="000000"/>
                </a:solidFill>
                <a:latin typeface="Times New Roman"/>
              </a:rPr>
              <a:t>Presentation Layer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900" b="0">
                <a:solidFill>
                  <a:srgbClr val="000000"/>
                </a:solidFill>
                <a:latin typeface="Times New Roman"/>
              </a:rPr>
              <a:t>HTML, CSS, JavaScript, and Bootstrap render forms and dashboards for products, suppliers, warehouses, and stock in the browser.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900" b="1">
                <a:solidFill>
                  <a:srgbClr val="000000"/>
                </a:solidFill>
                <a:latin typeface="Times New Roman"/>
              </a:rPr>
              <a:t>Application Layer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900" b="0">
                <a:solidFill>
                  <a:srgbClr val="000000"/>
                </a:solidFill>
                <a:latin typeface="Times New Roman"/>
              </a:rPr>
              <a:t>Flask handles requests, business logic, and validation, and routes data between the frontend and the database.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900" b="1">
                <a:solidFill>
                  <a:srgbClr val="000000"/>
                </a:solidFill>
                <a:latin typeface="Times New Roman"/>
              </a:rPr>
              <a:t>Data Access Layer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900" b="0">
                <a:solidFill>
                  <a:srgbClr val="000000"/>
                </a:solidFill>
                <a:latin typeface="Times New Roman"/>
              </a:rPr>
              <a:t>Python database connectors send SQL queries (insert, update, delete, select) to MySQL and return results to Flask.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900" b="1">
                <a:solidFill>
                  <a:srgbClr val="000000"/>
                </a:solidFill>
                <a:latin typeface="Times New Roman"/>
              </a:rPr>
              <a:t>Database Layer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1900" b="0">
                <a:solidFill>
                  <a:srgbClr val="000000"/>
                </a:solidFill>
                <a:latin typeface="Times New Roman"/>
              </a:rPr>
              <a:t>MySQL stores structured tables for Products, Categories, Suppliers, Warehouses, Stock, and Transactions, linked through primary and foreign keys.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Y25 Trimester 4  |  Sec No-11  |  Team No-1  |  Smart Inventory &amp; Warehouse Management System  |  Review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5895" y="6181344"/>
            <a:ext cx="54864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/>
            <a:r>
              <a:rPr sz="1200" b="1">
                <a:solidFill>
                  <a:srgbClr val="C00000"/>
                </a:solidFill>
                <a:latin typeface="Times New Roman"/>
              </a:rPr>
              <a:t>6</a:t>
            </a:r>
          </a:p>
        </p:txBody>
      </p:sp>
      <p:pic>
        <p:nvPicPr>
          <p:cNvPr id="5" name="Picture 4" descr="kl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8927" y="45720"/>
            <a:ext cx="1463040" cy="5422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292608"/>
            <a:ext cx="9418320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3600" b="1">
                <a:solidFill>
                  <a:srgbClr val="00B0F0"/>
                </a:solidFill>
                <a:latin typeface="Times New Roman"/>
              </a:rPr>
              <a:t>Database Design — ER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143000"/>
            <a:ext cx="10607040" cy="4892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2200" b="1">
                <a:solidFill>
                  <a:srgbClr val="000000"/>
                </a:solidFill>
                <a:latin typeface="Times New Roman"/>
              </a:rPr>
              <a:t>Product  </a:t>
            </a:r>
            <a:r>
              <a:rPr sz="2200" b="0">
                <a:solidFill>
                  <a:srgbClr val="000000"/>
                </a:solidFill>
                <a:latin typeface="Times New Roman"/>
              </a:rPr>
              <a:t>(product_id, name, category_id, price, quantity) — linked to Category and Supplier.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2200" b="1">
                <a:solidFill>
                  <a:srgbClr val="000000"/>
                </a:solidFill>
                <a:latin typeface="Times New Roman"/>
              </a:rPr>
              <a:t>Category  </a:t>
            </a:r>
            <a:r>
              <a:rPr sz="2200" b="0">
                <a:solidFill>
                  <a:srgbClr val="000000"/>
                </a:solidFill>
                <a:latin typeface="Times New Roman"/>
              </a:rPr>
              <a:t>(category_id, category_name) — one category has many products.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2200" b="1">
                <a:solidFill>
                  <a:srgbClr val="000000"/>
                </a:solidFill>
                <a:latin typeface="Times New Roman"/>
              </a:rPr>
              <a:t>Supplier  </a:t>
            </a:r>
            <a:r>
              <a:rPr sz="2200" b="0">
                <a:solidFill>
                  <a:srgbClr val="000000"/>
                </a:solidFill>
                <a:latin typeface="Times New Roman"/>
              </a:rPr>
              <a:t>(supplier_id, name, contact_info) — supplies one or more products.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2200" b="1">
                <a:solidFill>
                  <a:srgbClr val="000000"/>
                </a:solidFill>
                <a:latin typeface="Times New Roman"/>
              </a:rPr>
              <a:t>Warehouse  </a:t>
            </a:r>
            <a:r>
              <a:rPr sz="2200" b="0">
                <a:solidFill>
                  <a:srgbClr val="000000"/>
                </a:solidFill>
                <a:latin typeface="Times New Roman"/>
              </a:rPr>
              <a:t>(warehouse_id, location, capacity) — holds stock for multiple products.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2200" b="1">
                <a:solidFill>
                  <a:srgbClr val="000000"/>
                </a:solidFill>
                <a:latin typeface="Times New Roman"/>
              </a:rPr>
              <a:t>Stock  </a:t>
            </a:r>
            <a:r>
              <a:rPr sz="2200" b="0">
                <a:solidFill>
                  <a:srgbClr val="000000"/>
                </a:solidFill>
                <a:latin typeface="Times New Roman"/>
              </a:rPr>
              <a:t>(stock_id, product_id, warehouse_id, quantity) — links Product and Warehouse (many-to-many).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sz="2200" b="1">
                <a:solidFill>
                  <a:srgbClr val="000000"/>
                </a:solidFill>
                <a:latin typeface="Times New Roman"/>
              </a:rPr>
              <a:t>Transaction  </a:t>
            </a:r>
            <a:r>
              <a:rPr sz="2200" b="0">
                <a:solidFill>
                  <a:srgbClr val="000000"/>
                </a:solidFill>
                <a:latin typeface="Times New Roman"/>
              </a:rPr>
              <a:t>(transaction_id, product_id, type, quantity, date) — logs every stock movement for traceability.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5B9BD5"/>
          </a:solidFill>
          <a:ln w="12700">
            <a:solidFill>
              <a:srgbClr val="4171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Y25 Trimester 4  |  Sec No-11  |  Team No-1  |  Smart Inventory &amp; Warehouse Management System  |  Review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5895" y="6181344"/>
            <a:ext cx="54864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/>
            <a:r>
              <a:rPr sz="1200" b="1">
                <a:solidFill>
                  <a:srgbClr val="C00000"/>
                </a:solidFill>
                <a:latin typeface="Times New Roman"/>
              </a:rPr>
              <a:t>7</a:t>
            </a:r>
          </a:p>
        </p:txBody>
      </p:sp>
      <p:pic>
        <p:nvPicPr>
          <p:cNvPr id="5" name="Picture 4" descr="kl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8927" y="45720"/>
            <a:ext cx="1463040" cy="5422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292608"/>
            <a:ext cx="9418320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3600" b="1">
                <a:solidFill>
                  <a:srgbClr val="00B0F0"/>
                </a:solidFill>
                <a:latin typeface="Times New Roman"/>
              </a:rPr>
              <a:t>Technologies Used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234440"/>
          <a:ext cx="106070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5680"/>
                <a:gridCol w="3535680"/>
                <a:gridCol w="353568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Category</a:t>
                      </a:r>
                    </a:p>
                  </a:txBody>
                  <a:tcPr marT="38100" marB="38100"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Technology</a:t>
                      </a:r>
                    </a:p>
                  </a:txBody>
                  <a:tcPr marT="38100" marB="38100"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Purpose</a:t>
                      </a:r>
                    </a:p>
                  </a:txBody>
                  <a:tcPr marT="38100" marB="38100">
                    <a:solidFill>
                      <a:srgbClr val="5B9BD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Database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MySQL, MySQL Workbench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Stores products, suppliers, warehouses, stock, transactions.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Backend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Python, Flask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Handles application logic and database connectivity.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Frontend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HTML, CSS, JavaScript, Bootstrap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Creates a clean, responsive user interface.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Tools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VS Code, Flask dev server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Times New Roman"/>
                        </a:rPr>
                        <a:t>Development and local testing environment.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